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A4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A4632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E7C9A9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B85042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VIRTUAL TRAINER — FOCUSED MODULE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Chemoembolization (TACE)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and drug-eluting bead TACE for hepatocellular carcinoma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3291840" cy="502920"/>
          </a:xfrm>
          <a:prstGeom prst="roundRect">
            <a:avLst>
              <a:gd name="adj" fmla="val 50909"/>
            </a:avLst>
          </a:prstGeom>
          <a:solidFill>
            <a:srgbClr val="B850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892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· Nurses · Technologists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Virtual Trainer  |  Focused Module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5EAE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A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module, learners will be able 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48840"/>
            <a:ext cx="457200" cy="457200"/>
          </a:xfrm>
          <a:prstGeom prst="ellipse">
            <a:avLst/>
          </a:prstGeom>
          <a:solidFill>
            <a:srgbClr val="8A46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5740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indications for transarterial chemoembolization (TACE) in the staging and treatment of hepatocellular carcinoma (HCC).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148840"/>
            <a:ext cx="457200" cy="457200"/>
          </a:xfrm>
          <a:prstGeom prst="ellipse">
            <a:avLst/>
          </a:prstGeom>
          <a:solidFill>
            <a:srgbClr val="8A46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05740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conventional TACE (cTACE) from drug-eluting bead TACE (DEB-TACE).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657600"/>
            <a:ext cx="457200" cy="457200"/>
          </a:xfrm>
          <a:prstGeom prst="ellipse">
            <a:avLst/>
          </a:prstGeom>
          <a:solidFill>
            <a:srgbClr val="8A463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56616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each team member's role in patient preparation, procedure support, and post-TACE monitoring.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34290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3657600"/>
            <a:ext cx="457200" cy="457200"/>
          </a:xfrm>
          <a:prstGeom prst="ellipse">
            <a:avLst/>
          </a:prstGeom>
          <a:solidFill>
            <a:srgbClr val="8A46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356616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post-embolization syndrome and other complications specific to hepatic embolization.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Chemoembolization (TACE) — IR Virtual Trainer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5EAE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A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Is TACE Considered?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6949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Intermediate-stage HCC (BCLC stage B) not amenable to curative resection, ablation, or transplantation.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or downstaging therapy for patients awaiting liver transplantation.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liver function reserve (Child-Pugh A or selected B) and preserved portal vein patency are typically required.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Multidisciplinary tumor board review — surgery, hepatology, oncology, and IR — guides staging-based treatment selection.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0" y="1874520"/>
            <a:ext cx="3931920" cy="4297680"/>
          </a:xfrm>
          <a:prstGeom prst="roundRect">
            <a:avLst>
              <a:gd name="adj" fmla="val 2326"/>
            </a:avLst>
          </a:prstGeom>
          <a:solidFill>
            <a:srgbClr val="8A46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9244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cTACE vs. DEB-TACE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265176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TACE uses a chemotherapy-Lipiodol emulsion followed by embolic particles. DEB-TACE uses drug-eluting beads that both embolize and locally deliver chemotherapy over time.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Chemoembolization (TACE) — IR Virtual Trainer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TACE Considered?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5EAE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A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FLOW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TACE — Step by Step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F5EAE2"/>
          </a:solidFill>
          <a:ln w="15875">
            <a:solidFill>
              <a:srgbClr val="8A46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2728" y="2377440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5272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A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Pre-Procedure Imaging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CT/MRI confirms tumor number, size, and location; assesses portal vein patency.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32888" y="3730752"/>
            <a:ext cx="192024" cy="219456"/>
          </a:xfrm>
          <a:prstGeom prst="rightArrow">
            <a:avLst/>
          </a:prstGeom>
          <a:solidFill>
            <a:srgbClr val="8A4632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5875">
            <a:solidFill>
              <a:srgbClr val="8A46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3008" y="2377440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9300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A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Hepatic Angiography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Catheter access to the celiac/hepatic artery maps tumor-feeding vessels.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73168" y="3730752"/>
            <a:ext cx="192024" cy="219456"/>
          </a:xfrm>
          <a:prstGeom prst="rightArrow">
            <a:avLst/>
          </a:prstGeom>
          <a:solidFill>
            <a:srgbClr val="8A4632"/>
          </a:solidFill>
          <a:ln/>
        </p:spPr>
      </p:sp>
      <p:sp>
        <p:nvSpPr>
          <p:cNvPr id="17" name="Shape 15"/>
          <p:cNvSpPr/>
          <p:nvPr/>
        </p:nvSpPr>
        <p:spPr>
          <a:xfrm>
            <a:off x="498348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F5EAE2"/>
          </a:solidFill>
          <a:ln w="15875">
            <a:solidFill>
              <a:srgbClr val="8A46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33288" y="2377440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3328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A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Superselective Catheterization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Microcatheter advanced into the segmental/subsegmental artery feeding the tumor.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13448" y="3730752"/>
            <a:ext cx="192024" cy="219456"/>
          </a:xfrm>
          <a:prstGeom prst="rightArrow">
            <a:avLst/>
          </a:prstGeom>
          <a:solidFill>
            <a:srgbClr val="8A4632"/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5875">
            <a:solidFill>
              <a:srgbClr val="8A46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3568" y="2377440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7356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A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Chemoembolic Delivery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Lipiodol-chemotherapy emulsion (cTACE) or drug-eluting beads (DEB-TACE) infused to near-stasis.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253728" y="3730752"/>
            <a:ext cx="192024" cy="219456"/>
          </a:xfrm>
          <a:prstGeom prst="rightArrow">
            <a:avLst/>
          </a:prstGeom>
          <a:solidFill>
            <a:srgbClr val="8A4632"/>
          </a:solidFill>
          <a:ln/>
        </p:spPr>
      </p:sp>
      <p:sp>
        <p:nvSpPr>
          <p:cNvPr id="29" name="Shape 27"/>
          <p:cNvSpPr/>
          <p:nvPr/>
        </p:nvSpPr>
        <p:spPr>
          <a:xfrm>
            <a:off x="946404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F5EAE2"/>
          </a:solidFill>
          <a:ln w="15875">
            <a:solidFill>
              <a:srgbClr val="8A46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13848" y="2377440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21384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A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Post-Procedure Monitoring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60120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for post-embolization syndrome; plan follow-up imaging for response assessment.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Chemoembolization (TACE) — IR Virtual Trainer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TACE — Step by Step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5EAE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A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FOCUS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Team Member Should Know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8A4632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130552"/>
            <a:ext cx="3657600" cy="246888"/>
          </a:xfrm>
          <a:prstGeom prst="rect">
            <a:avLst/>
          </a:prstGeom>
          <a:solidFill>
            <a:srgbClr val="8A46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Doctor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587752"/>
            <a:ext cx="325526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cTACE vs. DEB-TACE based on tumor characteristics and institutional protocol.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superselective catheterization to spare non-tumor liver parenchyma.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liver function reserve and portal vein status before treatment.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embolization endpoint and plan follow-up imaging interval.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8745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E7C9A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130552"/>
            <a:ext cx="3657600" cy="246888"/>
          </a:xfrm>
          <a:prstGeom prst="rect">
            <a:avLst/>
          </a:prstGeom>
          <a:solidFill>
            <a:srgbClr val="E7C9A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8912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Nurse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2587752"/>
            <a:ext cx="325526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 and manage post-embolization syndrome (pain, fever, nausea, fatigue).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liver function labs and signs of hepatic decompensation post-procedure.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antiemetic and analgesic protocols around the procedure.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 patients on expected recovery course and warning signs.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75320" y="187452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18745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B85042"/>
          </a:solidFill>
          <a:ln/>
        </p:spPr>
      </p:sp>
      <p:sp>
        <p:nvSpPr>
          <p:cNvPr id="17" name="Shape 15"/>
          <p:cNvSpPr/>
          <p:nvPr/>
        </p:nvSpPr>
        <p:spPr>
          <a:xfrm>
            <a:off x="8275320" y="2130552"/>
            <a:ext cx="3657600" cy="24688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7532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Technologist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76488" y="2587752"/>
            <a:ext cx="325526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chemoembolic emulsion or drug-eluting beads per protocol.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cone-beam CT for tumor-feeder mapping when used.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accurate documentation of chemotherapeutic agent and dose.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fluoroscopic angles for hepatic arterial anatomy.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Chemoembolization (TACE) — IR Virtual Trainer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Team Member Should Know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5EAE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A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Recognizing &amp; Managing Complications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201400" cy="3566160"/>
        </p:xfrm>
        <a:graphic>
          <a:graphicData uri="http://schemas.openxmlformats.org/drawingml/2006/table">
            <a:tbl>
              <a:tblPr/>
              <a:tblGrid>
                <a:gridCol w="2926080"/>
                <a:gridCol w="4137660"/>
                <a:gridCol w="413766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6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Signs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6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63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Post-embolization syndrome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upper quadrant pain, fever, nausea 24–72 hrs post-procedure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Supportive care — analgesia, antiemetics, hydration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Hepatic decompensation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Worsening jaundice, ascites, encephalopathy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Liver function monitoring; hepatology consultation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Non-target embolization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Cholecystitis (if cystic artery involved), bowel ischemia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Supportive management; avoid non-target vessels with superselective technique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Hepatic abscess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Fever beyond expected window, imaging findings of collection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Antibiotics; percutaneous drainage if indicated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623560"/>
            <a:ext cx="11201400" cy="594360"/>
          </a:xfrm>
          <a:prstGeom prst="roundRect">
            <a:avLst>
              <a:gd name="adj" fmla="val 9231"/>
            </a:avLst>
          </a:prstGeom>
          <a:solidFill>
            <a:srgbClr val="F5EAE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5623560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liver function assessment before and after TACE is essential — hepatic reserve, not just tumor response, determines whether repeat treatment is safe.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Chemoembolization (TACE) — IR Virtual Trainer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&amp; Managing Complications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5EAE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A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BASE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Guidelines Supporting Practice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1201400" cy="96012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9854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0985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BCLC Staging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947672"/>
            <a:ext cx="9235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Barcelona Clinic Liver Cancer staging system guides which HCC patients are appropriate TACE candidates.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017520"/>
            <a:ext cx="11201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24154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2415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3090672"/>
            <a:ext cx="9235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quality improvement guidelines address patient selection, technique, and periprocedural care for TACE.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160520"/>
            <a:ext cx="11201400" cy="96012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38454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43845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ISMIO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4233672"/>
            <a:ext cx="9235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Society of Multidisciplinary Interventional Oncology consensus addresses TACE technique and integration with systemic therapy.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Chemoembolization (TACE) — IR Virtual Trainer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Supporting Practice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5EAE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A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SCENARIO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You Do?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6949440" cy="4343400"/>
          </a:xfrm>
          <a:prstGeom prst="roundRect">
            <a:avLst>
              <a:gd name="adj" fmla="val 1895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VIGNETTE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62-year-old with cirrhosis (Child-Pugh A) and a 4 cm HCC is not a surgical candidate due to portal hypertension. Imaging confirms patent portal vein and no extrahepatic spread.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480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DO?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8463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patient a TACE candidate, and what pre-procedure evaluation is needed?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0" y="1874520"/>
            <a:ext cx="3931920" cy="4343400"/>
          </a:xfrm>
          <a:prstGeom prst="roundRect">
            <a:avLst>
              <a:gd name="adj" fmla="val 2093"/>
            </a:avLst>
          </a:prstGeom>
          <a:solidFill>
            <a:srgbClr val="8A46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POINTS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51460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BCLC stage B disease with preserved liver function makes this an appropriate TACE candidate.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portal vein patency — TACE is generally avoided with main portal vein thrombosis.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Multidisciplinary tumor board discussion to confirm transplant-bridging vs. standalone treatment goal.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follow-up imaging at a defined interval to assess treatment response.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Chemoembolization (TACE) — IR Virtual Trainer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Do?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5EAE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A4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Worth Remembering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8A46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20848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BCLC B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Intermediate-stage HCC — the classic TACE indication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60520" y="192024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8A463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60520" y="20848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24–72h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post-embolization syndrome symptom window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18120" y="192024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8A463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18120" y="20848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Child-Pugh A/B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function reserve generally required for TACE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931920"/>
            <a:ext cx="11201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Superselective catheterization spares healthy liver parenchyma and reduces complication risk.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TACE decisions weigh tumor response against cumulative liver function impact.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vein patency is a key gatekeeper for whether TACE can safely proceed.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Chemoembolization (TACE) — IR Virtual Trainer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Worth Remembering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A4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486400" cy="5486400"/>
          </a:xfrm>
          <a:prstGeom prst="ellipse">
            <a:avLst/>
          </a:prstGeom>
          <a:solidFill>
            <a:srgbClr val="E7C9A9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Chemoembolization (TACE) — 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E7C9A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3774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TACE is the standard-of-care treatment for intermediate-stage (BCLC B) HCC with preserved liver function.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37960" y="22860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E7C9A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0" y="23774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cTACE and DEB-TACE are both evidence-based options with different delivery mechanisms.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E7C9A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611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Post-embolization syndrome is expected; hepatic decompensation is not — know the difference.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37960" y="352044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E7C9A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0" y="3611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Multidisciplinary staging and liver-function assessment determine candidacy at every step.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Virtual Trainer  |  Reference education module — verify against institutional protocol and current IFU before clinical use.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Interventional Radiology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NV IR Virtual Trainer</dc:creator>
  <cp:lastModifiedBy>NV IR Virtual Trainer</cp:lastModifiedBy>
  <cp:revision>1</cp:revision>
  <dcterms:created xsi:type="dcterms:W3CDTF">2026-09-07T13:46:58Z</dcterms:created>
  <dcterms:modified xsi:type="dcterms:W3CDTF">2026-09-07T13:46:58Z</dcterms:modified>
</cp:coreProperties>
</file>