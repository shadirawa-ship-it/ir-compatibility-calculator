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9FD8E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— FOCUSED MODULE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Peripheral Vascular Intervention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Iliac &amp; femoropopliteal angioplasty, stenting, thrombolysis, and CTO crossing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· Nurses · Technologists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Focused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learners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indications for endovascular treatment of iliac and femoropopliteal peripheral arterial disease (PAD).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procedural steps of angioplasty and stent placement, including balloon and stent selection principles.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team member's role in patient prep, monitoring, and equipment setup for PVI cases.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common PVI complications and the immediate management steps required.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Endovascular Therapy Considered?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Lifestyle-limiting claudication (Rutherford 2–3) refractory to guideline-directed medical therapy and structured exercise.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limb-threatening ischemia (CLTI) — rest pain, tissue loss (Rutherford 4–6) — to restore in-line flow and support wound healing.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limb ischemia from thrombosis/embolism where catheter-directed thrombolysis or mechanical thrombectomy is appropriate.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 suitability assessed by CT/MR angiography or duplex ultrasound; TASC II/TASC classification guides endovascular-first vs. surgical-first strategy.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 CLASSIFICATION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 A/B lesions favor an endovascular-first approach; TASC C/D lesions are more often treated surgically, though endovascular therapy is increasingly used based on patient risk and local expertise.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Endovascular Therapy Considered?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Angioplasty &amp; Stenting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9F4F8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77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Angiography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Ultrasound-guided common femoral or radial access; diagnostic run confirms lesion location, length, and severity.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3730752"/>
            <a:ext cx="192024" cy="219456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77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the Lesion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± support catheter navigates the stenosis or occlusion; CTO may require subintimal or re-entry technique.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3730752"/>
            <a:ext cx="192024" cy="219456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9F4F8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2377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332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 Angioplasty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Appropriately sized balloon dilates the lesion; pressure and duration per device IFU.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13448" y="3730752"/>
            <a:ext cx="192024" cy="219456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 Placement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Self-expanding or balloon-expandable stent deployed if flow-limiting dissection or suboptimal result.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3730752"/>
            <a:ext cx="192024" cy="219456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946404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9F4F8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&amp; Closure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Angiogram confirms patency; vascular closure device or manual compression at the access site.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Angioplasty &amp; Stenting — Step by Step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FOCUS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Member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30552"/>
            <a:ext cx="3657600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Doctor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balloon/stent diameter and length from angiographic measurements.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endovascular vs. surgical referral based on TASC classification and runoff.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crossing technique for chronic total occlusions.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completion angiogram for dissection or residual stenosis.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9FD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30552"/>
            <a:ext cx="3657600" cy="246888"/>
          </a:xfrm>
          <a:prstGeom prst="rect">
            <a:avLst/>
          </a:prstGeom>
          <a:solidFill>
            <a:srgbClr val="9FD8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Nurse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renal function and hydration status before contrast administration.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distal pulses and limb perfusion pre- and post-procedure.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procedural sedation/analgesia per protocol and monitor vitals.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patient on access-site care and activity restrictions at discharge.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30552"/>
            <a:ext cx="365760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Technologist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fluoroscopy and roadmapping for lesion crossing.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balloon/stent inventory sized to the anticipated vessel diameter.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imaging angles to profile the lesion and minimize foreshortening.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ALARA principles — collimation, pulse rate, and shielding.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Team Member Should Know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&amp; Managing Complications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137660"/>
                <a:gridCol w="41376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Access-site hematoma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Swelling, ecchymosis, pain at puncture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compression; ultrasound if expanding; reverse anticoagulation if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Flow-limiting filling defect on completion angiogram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Prolonged balloon inflation or bail-out stent placement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 embolization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New-onset limb ischemia distal to treated 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 thrombectomy or catheter-directed thrombolysis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Arterial perforation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extravasation, hypotension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Balloon tamponade; covered stent or surgical consult if uncontrolled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Contrast-induced nephropathy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creatinine 48–72 hrs post-procedure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Pre/post-procedure hydration; minimize contrast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9231"/>
            </a:avLst>
          </a:prstGeom>
          <a:solidFill>
            <a:srgbClr val="E9F4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recognition depends on continuous limb and hemodynamic monitoring — a shared responsibility across the entire team.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Managing Complications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Supporting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98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98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47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of Interventional Radiology standards address patient selection, technique, and quality metrics for peripheral endovascular therapy.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41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41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090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Appropriateness Criteria guide imaging work-up prior to intervention for lower-extremity PAD.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84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84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233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CIRSE standards of practice address technical approach and device selection for iliac and femoropopliteal disease.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303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527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5527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 II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5376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 classification remains a widely used framework for endovascular-vs-surgical decision-making in PAD.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Supporting Practice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SCENARIO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VIGNETTE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68-year-old with diabetes presents with a non-healing forefoot ulcer and Rutherford 5 CLTI. CT angiography shows a 12 cm superficial femoral artery occlusion with two-vessel runoff to the foot.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approach revascularization, and what does the care team need to prepare for?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3931920" cy="4343400"/>
          </a:xfrm>
          <a:prstGeom prst="roundRect">
            <a:avLst>
              <a:gd name="adj" fmla="val 209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occlusion favors a subintimal or dedicated CTO-crossing strategy.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need for longer balloon/stent lengths and possible bail-out stenting.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wound care for post-revascularization healing assessment.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possible staged tibial-level intervention if runoff remains inadequate.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9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Worth Remembering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TASC A–D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classification guiding treatment strategy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2–6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Rutherford categories from claudication to tissue loss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48–72h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to monitor for contrast-induced nephropathy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document distal pulses and ankle-brachial index (ABI) before and after intervention.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closure devices reduce time to hemostasis but still require post-procedure site checks.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antiplatelet therapy duration should be confirmed against institutional protocol and stent type.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Vascular Intervention — IR Virtual Trainer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Worth Remembering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9FD8E8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Peripheral Vascular Intervention —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FD8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selection relies on Rutherford category, TASC classification, and anatomic suitability.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FD8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angioplasty/stenting is a coordinated effort — imaging, device selection, and monitoring.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FD8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embolization, dissection, and access-site bleeding are the complications to watch for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FD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Guideline-directed medical therapy continues alongside — not instead of — endovascular treatment.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Reference education module — verify against institutional protocol and current IFU before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Interventional Radiology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NV IR Virtual Trainer</dc:creator>
  <cp:lastModifiedBy>NV IR Virtual Trainer</cp:lastModifiedBy>
  <cp:revision>1</cp:revision>
  <dcterms:created xsi:type="dcterms:W3CDTF">2026-09-07T13:44:12Z</dcterms:created>
  <dcterms:modified xsi:type="dcterms:W3CDTF">2026-09-07T13:44:12Z</dcterms:modified>
</cp:coreProperties>
</file>