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9BE8D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— FOCUSED MODULE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Vascular Access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Tunneled catheters, ports, and AV fistula creation for durable venous and dialysis access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920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· Nurses · Technologists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Focused Module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8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learners will be able to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tunneled dialysis catheters, implanted ports, and AV fistulas by indication and expected duration of use.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92024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05740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key steps in ultrasound-guided placement of a tunneled central venous catheter.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each team member's role in access-site care, maturation assessment, and infection prevention.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429000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36576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356616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catheter- and fistula-related complications and initial management steps.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— IR Virtual Trainer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8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OPTIONS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Access Device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6949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Tunneled dialysis catheter — bridge access for hemodialysis when a fistula/graft is not yet mature or is not feasible; higher infection risk with long-term use.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Implanted port — intermittent long-term access for chemotherapy or infusion therapy; lower infection risk than external catheters, requires needle access for use.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fistula — preferred long-term hemodialysis access per KDOQI guidelines; native vessel connection requires weeks to months to mature.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graft — alternative when native vessels are unsuitable for fistula creation; matures faster but has higher risk of thrombosis and stenosis over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874520"/>
            <a:ext cx="3931920" cy="4297680"/>
          </a:xfrm>
          <a:prstGeom prst="roundRect">
            <a:avLst>
              <a:gd name="adj" fmla="val 2326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92440" y="2148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FISTULA FIRST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92440" y="265176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practice guidelines favor AV fistulas over catheters for long-term hemodialysis due to lower infection and complication rates — but maturation takes time and must be planned for.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— IR Virtual Trainer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Access Device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8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FLOW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Tunneled Catheter Placement — Step by Step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7F8F5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52728" y="237744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5272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Selection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assessment of internal jugular (preferred), subclavian, or femoral vein for patency and size.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2888" y="3730752"/>
            <a:ext cx="192024" cy="21945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3008" y="237744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9300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Guidewire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Ultrasound-guided micropuncture access; guidewire advanced under fluoroscopic guidance.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3730752"/>
            <a:ext cx="192024" cy="21945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348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7F8F5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33288" y="237744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3328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Creation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Subcutaneous tunnel created from exit site to venotomy; cuff positioned per catheter design.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13448" y="3730752"/>
            <a:ext cx="192024" cy="21945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73568" y="237744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97356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Catheter Placement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Catheter tip positioned at the cavoatrial junction; confirmed with fluoroscopy.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253728" y="3730752"/>
            <a:ext cx="192024" cy="219456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9" name="Shape 27"/>
          <p:cNvSpPr/>
          <p:nvPr/>
        </p:nvSpPr>
        <p:spPr>
          <a:xfrm>
            <a:off x="9464040" y="2148840"/>
            <a:ext cx="2011680" cy="3383280"/>
          </a:xfrm>
          <a:prstGeom prst="roundRect">
            <a:avLst>
              <a:gd name="adj" fmla="val 4091"/>
            </a:avLst>
          </a:prstGeom>
          <a:solidFill>
            <a:srgbClr val="E7F8F5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13848" y="237744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213848" y="2377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0632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Securement &amp; Flush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3657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Catheter secured, flushed, and locked per protocol; sterile dressing applied.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— IR Virtual Trainer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Tunneled Catheter Placement — Step by Step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8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ROLE-SPECIFIC FOCUS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Team Member Should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130552"/>
            <a:ext cx="3657600" cy="2468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Doctor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venous access site and catheter type based on indication and vessel anatomy.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catheter tip position at the cavoatrial junction fluoroscopically.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fistula maturation with physical exam and duplex ultrasound.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catheter malposition, occlusion, or fistula stenosis.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9BE8DD"/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2130552"/>
            <a:ext cx="3657600" cy="246888"/>
          </a:xfrm>
          <a:prstGeom prst="rect">
            <a:avLst/>
          </a:prstGeom>
          <a:solidFill>
            <a:srgbClr val="9BE8D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91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Nurse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sterile dressing changes and monitor exit-site for infection.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patients on catheter/fistula care between visits.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fistula for thrill and bruit at follow-up.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line flushing/locking schedules with dialysis or infusion teams.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1874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8275320" y="2130552"/>
            <a:ext cx="3657600" cy="2468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7532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Technologist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76488" y="2587752"/>
            <a:ext cx="3255264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sterile field and ultrasound equipment for access.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fluoroscopy for tunnel and tip-position confirmation.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with catheter cuff and tunnel-length measurements.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and document catheter type, length, and lot number.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— IR Virtual Trainer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Team Member Should Know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8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Recognizing &amp; Managing Complications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20140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4137660"/>
                <a:gridCol w="413766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Catheter-related bloodstream infection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Fever, exit-site redness/drainage, rigors with line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Cultures, antibiotics; catheter exchange or removal per 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Catheter malposition/occlusion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flow or withdrawal occlusion during dialysis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Reposition, tPA lock, or catheter exchange over wire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Fistula non-maturation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 thrill/bruit, inadequate flow at 6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Duplex evaluation; consider angioplasty or surgical revision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Pneumothorax (subclavian/IJ access)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pain, dyspnea, decreased breath sounds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F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Post-procedure chest X-ray; chest tube if significant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623560"/>
            <a:ext cx="11201400" cy="594360"/>
          </a:xfrm>
          <a:prstGeom prst="roundRect">
            <a:avLst>
              <a:gd name="adj" fmla="val 9231"/>
            </a:avLst>
          </a:prstGeom>
          <a:solidFill>
            <a:srgbClr val="E7F8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5623560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guidance for venous access has significantly reduced mechanical complication rates compared with landmark-based technique.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— IR Virtual Trainer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&amp; Managing Complications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8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Guidelines Supporting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98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98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KDOQI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947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Disease Outcomes Quality Initiative guidelines favor AV fistula as first-choice long-term hemodialysis access.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241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241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3090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standards address technique and quality metrics for tunneled catheter and port placement.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160520"/>
            <a:ext cx="112014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384548"/>
            <a:ext cx="1371600" cy="51206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3845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4233672"/>
            <a:ext cx="9235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central line-associated bloodstream infection (CLABSI) prevention bundles guide insertion and maintenance practice.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— IR Virtual Trainer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Supporting Practice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8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SCENARIO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Do?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6949440" cy="4343400"/>
          </a:xfrm>
          <a:prstGeom prst="roundRect">
            <a:avLst>
              <a:gd name="adj" fmla="val 1895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VIGNETTE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on hemodialysis via tunneled catheter for 3 months develops fever and rigors during a dialysis session, with the catheter exit site appearing erythematous.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480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46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immediate priority, and how should the team proceed?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874520"/>
            <a:ext cx="3931920" cy="4343400"/>
          </a:xfrm>
          <a:prstGeom prst="roundRect">
            <a:avLst>
              <a:gd name="adj" fmla="val 2093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103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514600"/>
            <a:ext cx="3383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blood cultures from the catheter and peripherally before starting antibiotics.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for signs of systemic sepsis requiring urgent catheter removal.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nephrology on antibiotic lock therapy vs. catheter exchange.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900"/>
              </a:spcAft>
              <a:buSzPct val="100000"/>
              <a:buChar char="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AV fistula maturation status as a long-term alternative to reduce future infection risk.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— IR Virtual Trainer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Do?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7F8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Worth Remembering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6–8 wks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minimum time for AV fistula maturation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605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Cavoatrial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catheter tip position for tunneled central lines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8120" y="192024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18120" y="208483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 First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017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jugular is the preferred initial access site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31920"/>
            <a:ext cx="11201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"Fistula first" reduces long-term infection and hospitalization risk compared to catheters.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tunneled catheter placement should end with fluoroscopic tip-position confirmation.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350" dirty="0">
                <a:solidFill>
                  <a:srgbClr val="2B2F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Exit-site assessment at every dialysis or infusion visit supports early infection detection.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— IR Virtual Trainer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6510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Worth Remembering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486400" cy="5486400"/>
          </a:xfrm>
          <a:prstGeom prst="ellipse">
            <a:avLst/>
          </a:prstGeom>
          <a:solidFill>
            <a:srgbClr val="9BE8DD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Vascular Access —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BE8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device choice balances urgency, expected duration, and infection risk.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228600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BE8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23774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Ultrasound-guided technique is the standard of care for safe venous access.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BE8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fistulas take weeks to mature — plan ahead rather than reacting to catheter failure.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37960" y="352044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9BE8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66560" y="3611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prevention is a continuous, whole-team responsibility beyond the procedure itself.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Virtual Trainer  |  Reference education module — verify against institutional protocol and current IFU before clinical use.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Interventional Radiology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NV IR Virtual Trainer</dc:creator>
  <cp:lastModifiedBy>NV IR Virtual Trainer</cp:lastModifiedBy>
  <cp:revision>1</cp:revision>
  <dcterms:created xsi:type="dcterms:W3CDTF">2026-09-07T13:46:58Z</dcterms:created>
  <dcterms:modified xsi:type="dcterms:W3CDTF">2026-09-07T13:46:58Z</dcterms:modified>
</cp:coreProperties>
</file>