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A0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A0C1E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F2B8C0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286000" y="4389120"/>
            <a:ext cx="5029200" cy="5029200"/>
          </a:xfrm>
          <a:prstGeom prst="ellipse">
            <a:avLst/>
          </a:prstGeom>
          <a:solidFill>
            <a:srgbClr val="990011">
              <a:alpha val="18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5544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2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VIRTUAL TRAINER — FOCUSED MODULE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1168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Embolization Techniques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7947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2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Particle, liquid, and coil agents — choosing the right tool for the target vessel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4892040"/>
            <a:ext cx="3291840" cy="502920"/>
          </a:xfrm>
          <a:prstGeom prst="roundRect">
            <a:avLst>
              <a:gd name="adj" fmla="val 50909"/>
            </a:avLst>
          </a:prstGeom>
          <a:solidFill>
            <a:srgbClr val="99001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48920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· Nurses · Technologists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6263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Virtual Trainer  |  Focused Module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FBEAE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7A0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of this module, learners will be able to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F7F8FA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148840"/>
            <a:ext cx="457200" cy="457200"/>
          </a:xfrm>
          <a:prstGeom prst="ellipse">
            <a:avLst/>
          </a:prstGeom>
          <a:solidFill>
            <a:srgbClr val="7A0C1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057400"/>
            <a:ext cx="4343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 particle, liquid, and coil embolic agents and their typical clinical applications.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92024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F7F8FA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2148840"/>
            <a:ext cx="457200" cy="457200"/>
          </a:xfrm>
          <a:prstGeom prst="ellipse">
            <a:avLst/>
          </a:prstGeom>
          <a:solidFill>
            <a:srgbClr val="7A0C1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0" y="2057400"/>
            <a:ext cx="4343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how vessel size, flow, and treatment goal (temporary vs. permanent occlusion) guide agent selection.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" y="342900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F7F8FA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3657600"/>
            <a:ext cx="457200" cy="457200"/>
          </a:xfrm>
          <a:prstGeom prst="ellipse">
            <a:avLst/>
          </a:prstGeom>
          <a:solidFill>
            <a:srgbClr val="7A0C1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580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3566160"/>
            <a:ext cx="4343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each team member's responsibilities during embolization procedures.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63640" y="342900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F7F8FA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92240" y="3657600"/>
            <a:ext cx="457200" cy="457200"/>
          </a:xfrm>
          <a:prstGeom prst="ellipse">
            <a:avLst/>
          </a:prstGeom>
          <a:solidFill>
            <a:srgbClr val="7A0C1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9224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132320" y="3566160"/>
            <a:ext cx="4343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post-embolization syndrome and other complications, and how they are managed.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Embolization Techniques — IR Virtual Trainer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FBEAE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7A0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SELECTION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Matching the Agent to the Target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74520"/>
            <a:ext cx="694944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–"/>
            </a:pPr>
            <a:r>
              <a:rPr lang="en-US" sz="15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Particles (PVA, tris-acryl microspheres) — calibrated sizes occlude distal small vessels; used for uterine fibroid embolization, tumor devascularization, and preoperative embolization.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–"/>
            </a:pPr>
            <a:r>
              <a:rPr lang="en-US" sz="15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 embolics (n-BCA glue, Onyx/EVOH) — cast into the vascular bed for penetration into AVM nidus or high-flow shunts; require controlled, experienced delivery.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–"/>
            </a:pPr>
            <a:r>
              <a:rPr lang="en-US" sz="15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Coils (pushable, detachable, fiber-coated) — mechanical occlusion of a defined vessel segment; ideal for aneurysms, active bleeding, and proximal flow control.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–"/>
            </a:pPr>
            <a:r>
              <a:rPr lang="en-US" sz="15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Gelfoam — temporary occlusive agent for short-term hemostasis (e.g., trauma, GI bleeding) that recanalizes over weeks.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0" y="1874520"/>
            <a:ext cx="3931920" cy="4297680"/>
          </a:xfrm>
          <a:prstGeom prst="roundRect">
            <a:avLst>
              <a:gd name="adj" fmla="val 2326"/>
            </a:avLst>
          </a:prstGeom>
          <a:solidFill>
            <a:srgbClr val="7A0C1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092440" y="21488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PRINCIPLE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092440" y="2651760"/>
            <a:ext cx="3291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choice depends on whether occlusion should be proximal or distal, temporary or permanent, and how precisely the vascular bed needs to be targeted.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Embolization Techniques — IR Virtual Trainer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the Agent to the Target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FBEAE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7A0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 FLOW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 Embolization Workflow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2148840"/>
            <a:ext cx="2011680" cy="3383280"/>
          </a:xfrm>
          <a:prstGeom prst="roundRect">
            <a:avLst>
              <a:gd name="adj" fmla="val 4091"/>
            </a:avLst>
          </a:prstGeom>
          <a:solidFill>
            <a:srgbClr val="FBEAEC"/>
          </a:solidFill>
          <a:ln w="15875">
            <a:solidFill>
              <a:srgbClr val="7A0C1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52728" y="2377440"/>
            <a:ext cx="512064" cy="512064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252728" y="2377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0632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7A0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Angiography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6576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the vascular supply and confirm the target vessel and any dangerous collaterals.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532888" y="3730752"/>
            <a:ext cx="192024" cy="219456"/>
          </a:xfrm>
          <a:prstGeom prst="rightArrow">
            <a:avLst/>
          </a:prstGeom>
          <a:solidFill>
            <a:srgbClr val="7A0C1E"/>
          </a:solidFill>
          <a:ln/>
        </p:spPr>
      </p:sp>
      <p:sp>
        <p:nvSpPr>
          <p:cNvPr id="11" name="Shape 9"/>
          <p:cNvSpPr/>
          <p:nvPr/>
        </p:nvSpPr>
        <p:spPr>
          <a:xfrm>
            <a:off x="2743200" y="2148840"/>
            <a:ext cx="2011680" cy="33832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5875">
            <a:solidFill>
              <a:srgbClr val="7A0C1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93008" y="2377440"/>
            <a:ext cx="512064" cy="512064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493008" y="2377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880360" y="30632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7A0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Superselective Catheterization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2880360" y="36576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Microcatheter advanced as close to the target as possible to protect non-target tissue.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73168" y="3730752"/>
            <a:ext cx="192024" cy="219456"/>
          </a:xfrm>
          <a:prstGeom prst="rightArrow">
            <a:avLst/>
          </a:prstGeom>
          <a:solidFill>
            <a:srgbClr val="7A0C1E"/>
          </a:solidFill>
          <a:ln/>
        </p:spPr>
      </p:sp>
      <p:sp>
        <p:nvSpPr>
          <p:cNvPr id="17" name="Shape 15"/>
          <p:cNvSpPr/>
          <p:nvPr/>
        </p:nvSpPr>
        <p:spPr>
          <a:xfrm>
            <a:off x="4983480" y="2148840"/>
            <a:ext cx="2011680" cy="3383280"/>
          </a:xfrm>
          <a:prstGeom prst="roundRect">
            <a:avLst>
              <a:gd name="adj" fmla="val 4091"/>
            </a:avLst>
          </a:prstGeom>
          <a:solidFill>
            <a:srgbClr val="FBEAEC"/>
          </a:solidFill>
          <a:ln w="15875">
            <a:solidFill>
              <a:srgbClr val="7A0C1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733288" y="2377440"/>
            <a:ext cx="512064" cy="512064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733288" y="2377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120640" y="30632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7A0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Delivery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120640" y="36576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Particles, liquid, or coils delivered under fluoroscopic control per treatment goal.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013448" y="3730752"/>
            <a:ext cx="192024" cy="219456"/>
          </a:xfrm>
          <a:prstGeom prst="rightArrow">
            <a:avLst/>
          </a:prstGeom>
          <a:solidFill>
            <a:srgbClr val="7A0C1E"/>
          </a:solidFill>
          <a:ln/>
        </p:spPr>
      </p:sp>
      <p:sp>
        <p:nvSpPr>
          <p:cNvPr id="23" name="Shape 21"/>
          <p:cNvSpPr/>
          <p:nvPr/>
        </p:nvSpPr>
        <p:spPr>
          <a:xfrm>
            <a:off x="7223760" y="2148840"/>
            <a:ext cx="2011680" cy="33832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5875">
            <a:solidFill>
              <a:srgbClr val="7A0C1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73568" y="2377440"/>
            <a:ext cx="512064" cy="512064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973568" y="2377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360920" y="30632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7A0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Confirmation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7360920" y="36576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Stasis or near-stasis of flow confirmed; angiogram documents occlusion.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253728" y="3730752"/>
            <a:ext cx="192024" cy="219456"/>
          </a:xfrm>
          <a:prstGeom prst="rightArrow">
            <a:avLst/>
          </a:prstGeom>
          <a:solidFill>
            <a:srgbClr val="7A0C1E"/>
          </a:solidFill>
          <a:ln/>
        </p:spPr>
      </p:sp>
      <p:sp>
        <p:nvSpPr>
          <p:cNvPr id="29" name="Shape 27"/>
          <p:cNvSpPr/>
          <p:nvPr/>
        </p:nvSpPr>
        <p:spPr>
          <a:xfrm>
            <a:off x="9464040" y="2148840"/>
            <a:ext cx="2011680" cy="3383280"/>
          </a:xfrm>
          <a:prstGeom prst="roundRect">
            <a:avLst>
              <a:gd name="adj" fmla="val 4091"/>
            </a:avLst>
          </a:prstGeom>
          <a:solidFill>
            <a:srgbClr val="FBEAEC"/>
          </a:solidFill>
          <a:ln w="15875">
            <a:solidFill>
              <a:srgbClr val="7A0C1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213848" y="2377440"/>
            <a:ext cx="512064" cy="512064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0213848" y="2377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9601200" y="30632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7A0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Post-Procedure Monitoring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9601200" y="36576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for post-embolization syndrome and non-target embolization signs.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Embolization Techniques — IR Virtual Trainer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Embolization Workflow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FBEAE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7A0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ROLE-SPECIFIC FOCUS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Team Member Should Know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3657600" cy="4343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874520"/>
            <a:ext cx="3657600" cy="502920"/>
          </a:xfrm>
          <a:prstGeom prst="roundRect">
            <a:avLst>
              <a:gd name="adj" fmla="val 14545"/>
            </a:avLst>
          </a:prstGeom>
          <a:solidFill>
            <a:srgbClr val="7A0C1E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2130552"/>
            <a:ext cx="3657600" cy="246888"/>
          </a:xfrm>
          <a:prstGeom prst="rect">
            <a:avLst/>
          </a:prstGeom>
          <a:solidFill>
            <a:srgbClr val="7A0C1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" y="18745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Doctor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04088" y="2587752"/>
            <a:ext cx="3255264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embolic agent type and size based on target vessel and treatment goal.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Anticipate and avoid dangerous anastomoses/collaterals before agent delivery.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appropriate embolization endpoint (stasis vs. flow reduction).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non-target embolization if it occurs.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89120" y="1874520"/>
            <a:ext cx="3657600" cy="4343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1874520"/>
            <a:ext cx="3657600" cy="502920"/>
          </a:xfrm>
          <a:prstGeom prst="roundRect">
            <a:avLst>
              <a:gd name="adj" fmla="val 14545"/>
            </a:avLst>
          </a:prstGeom>
          <a:solidFill>
            <a:srgbClr val="F2B8C0"/>
          </a:solidFill>
          <a:ln/>
        </p:spPr>
      </p:sp>
      <p:sp>
        <p:nvSpPr>
          <p:cNvPr id="12" name="Shape 10"/>
          <p:cNvSpPr/>
          <p:nvPr/>
        </p:nvSpPr>
        <p:spPr>
          <a:xfrm>
            <a:off x="4389120" y="2130552"/>
            <a:ext cx="3657600" cy="246888"/>
          </a:xfrm>
          <a:prstGeom prst="rect">
            <a:avLst/>
          </a:prstGeom>
          <a:solidFill>
            <a:srgbClr val="F2B8C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389120" y="18745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Nurse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90288" y="2587752"/>
            <a:ext cx="3255264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Anticipate and pre-medicate for post-embolization syndrome (pain, fever, nausea).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for signs of non-target embolization (skin changes, new pain).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patient comfort and analgesia during and after the procedure.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discharge education on expected post-embolization symptoms.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75320" y="1874520"/>
            <a:ext cx="3657600" cy="4343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75320" y="1874520"/>
            <a:ext cx="3657600" cy="502920"/>
          </a:xfrm>
          <a:prstGeom prst="roundRect">
            <a:avLst>
              <a:gd name="adj" fmla="val 14545"/>
            </a:avLst>
          </a:prstGeom>
          <a:solidFill>
            <a:srgbClr val="990011"/>
          </a:solidFill>
          <a:ln/>
        </p:spPr>
      </p:sp>
      <p:sp>
        <p:nvSpPr>
          <p:cNvPr id="17" name="Shape 15"/>
          <p:cNvSpPr/>
          <p:nvPr/>
        </p:nvSpPr>
        <p:spPr>
          <a:xfrm>
            <a:off x="8275320" y="2130552"/>
            <a:ext cx="3657600" cy="246888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75320" y="18745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Technologist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476488" y="2587752"/>
            <a:ext cx="3255264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and label embolic agents accurately — particle size, liquid mixture ratio.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microcatheter exchanges and contrast injections.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sterile technique during agent preparation (especially liquid embolics).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embolic material, volume, and lot numbers used.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Embolization Techniques — IR Virtual Trainer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Team Member Should Know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FBEAE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7A0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COMPLICATIONS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Recognizing &amp; Managing Complications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874520"/>
          <a:ext cx="11201400" cy="3566160"/>
        </p:xfrm>
        <a:graphic>
          <a:graphicData uri="http://schemas.openxmlformats.org/drawingml/2006/table">
            <a:tbl>
              <a:tblPr/>
              <a:tblGrid>
                <a:gridCol w="2926080"/>
                <a:gridCol w="4137660"/>
                <a:gridCol w="4137660"/>
              </a:tblGrid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Complication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0C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Warning Signs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0C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Immediate Action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0C1E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B2F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Post-embolization syndrome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F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Pain, low-grade fever, nausea 24–72 hrs post-procedure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F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Supportive care — analgesia, antiemetics, hydration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B2F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Non-target embolization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F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Unexpected pain, skin discoloration, organ dysfunction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F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 delivery immediately; assess extent; supportive/surgical management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C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B2F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Post-embolization abscess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F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Fever beyond expected window, rising WBC, imaging findings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F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Antibiotics; consider percutaneous drainage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B2F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Vessel perforation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F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Contrast extravasation during catheterization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F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Coil or gelfoam occlusion proximal to injury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C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5623560"/>
            <a:ext cx="11201400" cy="594360"/>
          </a:xfrm>
          <a:prstGeom prst="roundRect">
            <a:avLst>
              <a:gd name="adj" fmla="val 9231"/>
            </a:avLst>
          </a:prstGeom>
          <a:solidFill>
            <a:srgbClr val="FBEAEC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31520" y="5623560"/>
            <a:ext cx="1074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0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Post-embolization syndrome is expected and usually self-limited — distinguishing it from infection or non-target injury is a key clinical skill.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Embolization Techniques — IR Virtual Trainer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Recognizing &amp; Managing Complications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FBEAE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7A0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BASE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Guidelines Supporting Practice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11201400" cy="960120"/>
          </a:xfrm>
          <a:prstGeom prst="roundRect">
            <a:avLst>
              <a:gd name="adj" fmla="val 6667"/>
            </a:avLst>
          </a:prstGeom>
          <a:solidFill>
            <a:srgbClr val="F7F8FA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098548"/>
            <a:ext cx="1371600" cy="512064"/>
          </a:xfrm>
          <a:prstGeom prst="roundRect">
            <a:avLst>
              <a:gd name="adj" fmla="val 50000"/>
            </a:avLst>
          </a:prstGeom>
          <a:solidFill>
            <a:srgbClr val="99001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2098548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286000" y="1947672"/>
            <a:ext cx="923544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 quality improvement standards cover embolic agent selection and periprocedural care across embolization indications.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3017520"/>
            <a:ext cx="1120140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3241548"/>
            <a:ext cx="1371600" cy="512064"/>
          </a:xfrm>
          <a:prstGeom prst="roundRect">
            <a:avLst>
              <a:gd name="adj" fmla="val 50000"/>
            </a:avLst>
          </a:prstGeom>
          <a:solidFill>
            <a:srgbClr val="99001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5800" y="3241548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CIRSE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286000" y="3090672"/>
            <a:ext cx="923544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CIRSE standards of practice address technique for uterine fibroid embolization and other common embolization procedures.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4160520"/>
            <a:ext cx="11201400" cy="960120"/>
          </a:xfrm>
          <a:prstGeom prst="roundRect">
            <a:avLst>
              <a:gd name="adj" fmla="val 6667"/>
            </a:avLst>
          </a:prstGeom>
          <a:solidFill>
            <a:srgbClr val="F7F8FA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4384548"/>
            <a:ext cx="1371600" cy="512064"/>
          </a:xfrm>
          <a:prstGeom prst="roundRect">
            <a:avLst>
              <a:gd name="adj" fmla="val 50000"/>
            </a:avLst>
          </a:prstGeom>
          <a:solidFill>
            <a:srgbClr val="99001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5800" y="4384548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286000" y="4233672"/>
            <a:ext cx="923544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 Appropriateness Criteria inform imaging work-up before embolization for GI bleeding and other indications.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Embolization Techniques — IR Virtual Trainer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Guidelines Supporting Practice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FBEAE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7A0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SCENARIO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Would You Do?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6949440" cy="4343400"/>
          </a:xfrm>
          <a:prstGeom prst="roundRect">
            <a:avLst>
              <a:gd name="adj" fmla="val 1895"/>
            </a:avLst>
          </a:prstGeom>
          <a:solidFill>
            <a:srgbClr val="F7F8FA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1031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0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VIGNETTE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68880"/>
            <a:ext cx="6400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54-year-old with acute lower GI bleeding is hemodynamically borderline. CT angiography localizes active extravasation to a branch of the sigmoid artery.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4805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0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YOU DO?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84632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embolic agent and delivery approach best balances hemostasis against bowel ischemia risk?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0" y="1874520"/>
            <a:ext cx="3931920" cy="4343400"/>
          </a:xfrm>
          <a:prstGeom prst="roundRect">
            <a:avLst>
              <a:gd name="adj" fmla="val 2093"/>
            </a:avLst>
          </a:prstGeom>
          <a:solidFill>
            <a:srgbClr val="7A0C1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046720" y="21031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POINTS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0" y="2514600"/>
            <a:ext cx="3383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Superselective microcatheter positioning as close to the bleeding point as possible.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Coils or a combination approach favored over particles to limit ischemic bowel risk.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absence of dangerous collateral supply before deployment.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Post-procedure monitoring for signs of bowel ischemia.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Embolization Techniques — IR Virtual Trainer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You Do?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FBEAE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7A0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Numbers Worth Remembering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3383280" cy="1737360"/>
          </a:xfrm>
          <a:prstGeom prst="roundRect">
            <a:avLst>
              <a:gd name="adj" fmla="val 4737"/>
            </a:avLst>
          </a:prstGeom>
          <a:solidFill>
            <a:srgbClr val="7A0C1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2084832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24–72h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0175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2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window for post-embolization syndrome symptoms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160520" y="1920240"/>
            <a:ext cx="3383280" cy="1737360"/>
          </a:xfrm>
          <a:prstGeom prst="roundRect">
            <a:avLst>
              <a:gd name="adj" fmla="val 4737"/>
            </a:avLst>
          </a:prstGeom>
          <a:solidFill>
            <a:srgbClr val="7A0C1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160520" y="2084832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Weeks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4343400" y="30175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2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for Gelfoam to recanalize (temporary occlusion)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818120" y="1920240"/>
            <a:ext cx="3383280" cy="1737360"/>
          </a:xfrm>
          <a:prstGeom prst="roundRect">
            <a:avLst>
              <a:gd name="adj" fmla="val 4737"/>
            </a:avLst>
          </a:prstGeom>
          <a:solidFill>
            <a:srgbClr val="7A0C1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818120" y="2084832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Superselective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8001000" y="30175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2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catheter position to protect non-target tissue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3931920"/>
            <a:ext cx="11201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embolic agent type, size, and volume in every procedure note.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Fever beyond the expected post-embolization window warrants infection work-up.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 embolics require the most precise technique — reserve for experienced operators.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Embolization Techniques — IR Virtual Trainer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Worth Remembering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7A0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828800"/>
            <a:ext cx="5486400" cy="5486400"/>
          </a:xfrm>
          <a:prstGeom prst="ellipse">
            <a:avLst/>
          </a:prstGeom>
          <a:solidFill>
            <a:srgbClr val="F2B8C0">
              <a:alpha val="18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2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0515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Embolization Techniques — Key Takeaways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2286000"/>
            <a:ext cx="5349240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2B8C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237744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selection depends on target vessel size, flow, and desired permanence of occlusion.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37960" y="2286000"/>
            <a:ext cx="5349240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2B8C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66560" y="237744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Superselective catheterization protects non-target tissue — a shared procedural priority.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3520440"/>
            <a:ext cx="5349240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2B8C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1560" y="361188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Post-embolization syndrome is common and self-limited; non-target embolization is not.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37960" y="3520440"/>
            <a:ext cx="5349240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2B8C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766560" y="361188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documentation of agent, size, and delivery supports safe follow-up care.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64008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Virtual Trainer  |  Reference education module — verify against institutional protocol and current IFU before clinical use.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Interventional Radiology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NV IR Virtual Trainer</dc:creator>
  <cp:lastModifiedBy>NV IR Virtual Trainer</cp:lastModifiedBy>
  <cp:revision>1</cp:revision>
  <dcterms:created xsi:type="dcterms:W3CDTF">2026-09-07T13:46:57Z</dcterms:created>
  <dcterms:modified xsi:type="dcterms:W3CDTF">2026-09-07T13:46:57Z</dcterms:modified>
</cp:coreProperties>
</file>